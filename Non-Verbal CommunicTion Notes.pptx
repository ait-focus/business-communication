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301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758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18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8865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15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2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1668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4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08782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3754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067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913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887587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480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361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623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FEBD05-DD0E-4BD3-A6C8-D986B48F237C}" type="datetimeFigureOut">
              <a:rPr lang="en-PK" smtClean="0"/>
              <a:t>26-Jan-2026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A05552-9D98-4A98-82EC-142E2254374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08335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rywellmind.com/understanding-emotions-through-facial-expressions-3024851" TargetMode="External"/><Relationship Id="rId2" Type="http://schemas.openxmlformats.org/officeDocument/2006/relationships/hyperlink" Target="https://www.verywellmind.com/understanding-the-dynamics-of-texting-in-relationships-4769077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9E344-1DF2-70E8-56C7-33FAD78F00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Non-Verbal Communication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49439-D56C-B3B5-D5C5-EC85C54511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Ms. Malahat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49298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201C-4E74-2AC5-2272-6242900F2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5C5F0-AB04-C514-18C5-5EE5CD8B0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63500">
              <a:spcBef>
                <a:spcPts val="785"/>
              </a:spcBef>
            </a:pPr>
            <a:r>
              <a:rPr lang="en-US" sz="1800" b="1" u="sng" kern="0" spc="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Q6-What</a:t>
            </a:r>
            <a:r>
              <a:rPr lang="en-US" sz="1800" b="1" u="sng" kern="0" spc="205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kern="0" spc="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is</a:t>
            </a:r>
            <a:r>
              <a:rPr lang="en-US" sz="1800" b="1" u="sng" kern="0" spc="195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kern="0" spc="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Non-verbal</a:t>
            </a:r>
            <a:r>
              <a:rPr lang="en-US" sz="1800" b="1" u="sng" kern="0" spc="195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communication: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 marR="54610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</a:pP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“Non-verbal</a:t>
            </a:r>
            <a:r>
              <a:rPr lang="en-US" sz="1800" b="1" u="sng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communication</a:t>
            </a:r>
            <a:r>
              <a:rPr lang="en-US" sz="1800" b="1" u="sng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</a:t>
            </a:r>
            <a:r>
              <a:rPr lang="en-US" sz="1800" b="1" u="sng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b="1" u="sng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sharing</a:t>
            </a:r>
            <a:r>
              <a:rPr lang="en-US" sz="1800" b="1" u="sng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b="1" u="sng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information</a:t>
            </a:r>
            <a:r>
              <a:rPr lang="en-US" sz="1800" b="1" u="sng" spc="-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between</a:t>
            </a:r>
            <a:r>
              <a:rPr lang="en-US" sz="1800" b="1" u="sng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two</a:t>
            </a:r>
            <a:r>
              <a:rPr lang="en-US" sz="1800" b="1" u="sng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individuals</a:t>
            </a:r>
            <a:r>
              <a:rPr lang="en-US" sz="1800" b="1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not</a:t>
            </a:r>
            <a:r>
              <a:rPr lang="en-US" sz="1800" b="1" u="sng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using</a:t>
            </a:r>
            <a:r>
              <a:rPr lang="en-US" sz="1800" b="1" u="sng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words.”</a:t>
            </a:r>
            <a:r>
              <a:rPr lang="en-US" sz="1800" b="1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Nodding,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facial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expressions,</a:t>
            </a:r>
            <a:r>
              <a:rPr lang="en-US" sz="1800" spc="-3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leaning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toward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speaker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show interest—all</a:t>
            </a:r>
            <a:r>
              <a:rPr lang="en-US" sz="18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spc="-7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those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are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forms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nonverbal</a:t>
            </a:r>
            <a:r>
              <a:rPr lang="en-US" sz="1800" spc="-7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communication.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spcBef>
                <a:spcPts val="780"/>
              </a:spcBef>
            </a:pP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Gestures: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 marR="196215">
              <a:lnSpc>
                <a:spcPct val="115000"/>
              </a:lnSpc>
              <a:spcBef>
                <a:spcPts val="1045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Deliberate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movements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signals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are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important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way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communicate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meaning without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words.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Common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gestures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include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waving,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pointing,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giving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"thumbs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up" sign. Other gestures related to culture.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For example, in the U.S., putting the index and</a:t>
            </a:r>
            <a:r>
              <a:rPr lang="en-US" sz="1800" spc="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middle finger in the shape of a "V" with your palm facing out is often considered to be a</a:t>
            </a:r>
            <a:r>
              <a:rPr lang="en-US" sz="1800" spc="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sign of peace or victory. Yet, in Britain, Australia, and other parts of the world, this</a:t>
            </a:r>
            <a:r>
              <a:rPr lang="en-US" sz="1800" spc="4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gesture can be considered an insult.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3964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6CD8-FA3A-D64B-8D0D-18FD2F88C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4F3B5-422D-552C-5484-2BE3B5798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63500">
              <a:spcBef>
                <a:spcPts val="785"/>
              </a:spcBef>
            </a:pP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Paralinguistics: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spcBef>
                <a:spcPts val="103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Paralinguistics</a:t>
            </a:r>
            <a:r>
              <a:rPr lang="en-US" sz="1800" spc="1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refers</a:t>
            </a:r>
            <a:r>
              <a:rPr lang="en-US" sz="1800" spc="1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1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u="none" strike="noStrike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vocal</a:t>
            </a:r>
            <a:r>
              <a:rPr lang="en-US" sz="1800" u="none" strike="noStrike" spc="165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 </a:t>
            </a:r>
            <a:r>
              <a:rPr lang="en-US" sz="1800" u="none" strike="noStrike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2"/>
              </a:rPr>
              <a:t>communication</a:t>
            </a:r>
            <a:r>
              <a:rPr lang="en-US" sz="1800" spc="175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that</a:t>
            </a:r>
            <a:r>
              <a:rPr lang="en-US" sz="1800" spc="1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</a:t>
            </a:r>
            <a:r>
              <a:rPr lang="en-US" sz="1800" spc="1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separate</a:t>
            </a:r>
            <a:r>
              <a:rPr lang="en-US" sz="1800" spc="1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from</a:t>
            </a:r>
            <a:r>
              <a:rPr lang="en-US" sz="1800" spc="1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actual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lnSpc>
                <a:spcPct val="115000"/>
              </a:lnSpc>
              <a:spcBef>
                <a:spcPts val="23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language. This form of nonverbal communication includes factors such as tone of voice, loudness, and pitch.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spcBef>
                <a:spcPts val="790"/>
              </a:spcBef>
            </a:pPr>
            <a:r>
              <a:rPr lang="en-US" sz="1800" b="1" u="sng" kern="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Facial</a:t>
            </a:r>
            <a:r>
              <a:rPr lang="en-US" sz="1800" b="1" u="sng" kern="0" spc="-8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Expressions: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lnSpc>
                <a:spcPct val="115000"/>
              </a:lnSpc>
              <a:spcBef>
                <a:spcPts val="1045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It's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amazing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how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much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say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with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your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face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without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ever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uttering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word.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u="none" strike="noStrike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Facial</a:t>
            </a:r>
            <a:r>
              <a:rPr lang="en-US" sz="1800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u="none" strike="noStrike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hlinkClick r:id="rId3"/>
              </a:rPr>
              <a:t>expressions</a:t>
            </a:r>
            <a:r>
              <a:rPr lang="en-US" sz="1800" dirty="0">
                <a:solidFill>
                  <a:srgbClr val="46788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are responsible for a huge proportion of nonverbal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 marR="156845">
              <a:lnSpc>
                <a:spcPct val="115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communication. Consider how much information can be conveyed with a smile or a frown.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look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person's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face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is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often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first</a:t>
            </a:r>
            <a:r>
              <a:rPr lang="en-US" sz="1800" spc="-6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thing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see,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even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before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hearing what they say. Sometimes, a raised brow or slight smirk can say more than a whole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conversation.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6373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47B8-DC9A-AC7E-7809-0D243AC84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ABFEC-AD59-C0E6-1CF8-B2BD3B366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63500">
              <a:spcBef>
                <a:spcPts val="785"/>
              </a:spcBef>
            </a:pPr>
            <a:r>
              <a:rPr lang="en-US" sz="1800" b="1" u="sng" kern="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Proxemics</a:t>
            </a:r>
            <a:r>
              <a:rPr lang="en-US" sz="1800" b="1" u="sng" kern="0" spc="-65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kern="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or</a:t>
            </a:r>
            <a:r>
              <a:rPr lang="en-US" sz="1800" b="1" u="sng" kern="0" spc="-65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kern="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personal</a:t>
            </a:r>
            <a:r>
              <a:rPr lang="en-US" sz="1800" b="1" u="sng" kern="0" spc="-75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space: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 marR="190500" algn="just">
              <a:lnSpc>
                <a:spcPct val="115000"/>
              </a:lnSpc>
              <a:spcBef>
                <a:spcPts val="1030"/>
              </a:spcBef>
              <a:spcAft>
                <a:spcPts val="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When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people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get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too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close,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often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start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feel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little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bit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(or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lot)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discomfort.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This is known as proxemics and is another important type of nonverbal communication.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 marR="85725" algn="just">
              <a:lnSpc>
                <a:spcPct val="115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How close you are to your audience when you speak sends a nonverbal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message. If you leave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very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small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distance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between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your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listener,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it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will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bit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threatening.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 the other hand, giving someone too much space is an awkward nonverbal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communication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that</a:t>
            </a:r>
            <a:r>
              <a:rPr lang="en-US" sz="1800" spc="-3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might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confuse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your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listener.</a:t>
            </a:r>
          </a:p>
          <a:p>
            <a:pPr marL="63500" marR="156845">
              <a:lnSpc>
                <a:spcPct val="115000"/>
              </a:lnSpc>
              <a:spcBef>
                <a:spcPts val="1020"/>
              </a:spcBef>
              <a:spcAft>
                <a:spcPts val="0"/>
              </a:spcAft>
            </a:pPr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Eye</a:t>
            </a:r>
            <a:r>
              <a:rPr lang="en-US" sz="1800" b="1" u="sng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contact: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800" b="1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Making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maintaining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eye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contact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with an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audience when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you’re verbally communicating</a:t>
            </a:r>
            <a:r>
              <a:rPr lang="en-US" sz="1800" spc="-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or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listening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5495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850C2-1ED7-9FFE-1D72-BBBBB90E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32491-33AF-4F39-B5B0-E1EE66AC0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Good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eye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contact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often</a:t>
            </a:r>
            <a:r>
              <a:rPr lang="en-US" sz="1800" spc="-5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conveys</a:t>
            </a:r>
            <a:r>
              <a:rPr lang="en-US" sz="1800" spc="-4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spc="-4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trait</a:t>
            </a:r>
            <a:r>
              <a:rPr lang="en-US" sz="1800" spc="-5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 honesty to the other party.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spcBef>
                <a:spcPts val="795"/>
              </a:spcBef>
            </a:pP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Haptics(touch):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lnSpc>
                <a:spcPct val="115000"/>
              </a:lnSpc>
              <a:spcBef>
                <a:spcPts val="1040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Shaking</a:t>
            </a:r>
            <a:r>
              <a:rPr lang="en-US" sz="1800" spc="1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1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audience</a:t>
            </a:r>
            <a:r>
              <a:rPr lang="en-US" sz="1800" spc="17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member’s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hand,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putting</a:t>
            </a:r>
            <a:r>
              <a:rPr lang="en-US" sz="1800" spc="17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your</a:t>
            </a:r>
            <a:r>
              <a:rPr lang="en-US" sz="1800" spc="1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hand</a:t>
            </a:r>
            <a:r>
              <a:rPr lang="en-US" sz="1800" spc="16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his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shoulder: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these</a:t>
            </a:r>
            <a:r>
              <a:rPr lang="en-US" sz="1800" spc="17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are nonverbal</a:t>
            </a:r>
            <a:r>
              <a:rPr lang="en-US" sz="1800" spc="17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cues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that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affect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the</a:t>
            </a:r>
            <a:r>
              <a:rPr lang="en-US" sz="1800" spc="19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success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your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message.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Touch</a:t>
            </a:r>
            <a:r>
              <a:rPr lang="en-US" sz="1800" spc="18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communicates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 marR="59690">
              <a:lnSpc>
                <a:spcPct val="115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affection,</a:t>
            </a:r>
            <a:r>
              <a:rPr lang="en-US" sz="1800" spc="19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but</a:t>
            </a:r>
            <a:r>
              <a:rPr lang="en-US" sz="1800" spc="1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it</a:t>
            </a:r>
            <a:r>
              <a:rPr lang="en-US" sz="1800" spc="1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also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communicates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power.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</a:t>
            </a:r>
            <a:r>
              <a:rPr lang="en-US" sz="1800" spc="19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</a:t>
            </a:r>
            <a:r>
              <a:rPr lang="en-US" sz="1800" spc="1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think</a:t>
            </a:r>
            <a:r>
              <a:rPr lang="en-US" sz="1800" spc="19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about</a:t>
            </a:r>
            <a:r>
              <a:rPr lang="en-US" sz="1800" spc="1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what</a:t>
            </a:r>
            <a:r>
              <a:rPr lang="en-US" sz="1800" spc="2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kind</a:t>
            </a:r>
            <a:r>
              <a:rPr lang="en-US" sz="1800" spc="18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spc="17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messages a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job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applicant</a:t>
            </a:r>
            <a:r>
              <a:rPr lang="en-US" sz="1800" spc="9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may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send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through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weak</a:t>
            </a:r>
            <a:r>
              <a:rPr lang="en-US" sz="1800" spc="1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handshake</a:t>
            </a:r>
            <a:r>
              <a:rPr lang="en-US" sz="1800" spc="1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versus</a:t>
            </a:r>
            <a:r>
              <a:rPr lang="en-US" sz="1800" spc="1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firm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one</a:t>
            </a:r>
            <a:r>
              <a:rPr lang="en-US" sz="1800" spc="12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after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having</a:t>
            </a:r>
            <a:r>
              <a:rPr lang="en-US" sz="1800" spc="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1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job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interview.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spcBef>
                <a:spcPts val="780"/>
              </a:spcBef>
            </a:pP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Appearance: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lnSpc>
                <a:spcPct val="115000"/>
              </a:lnSpc>
              <a:spcBef>
                <a:spcPts val="1035"/>
              </a:spcBef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Our choice of clothing, hairstyle, and other appearance factors are also considered a means of nonverbal communication. Appearance can also alter physiological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22939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BE57-F5C2-DDF7-4CC1-5586D81E5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078DB-5B59-4DEB-3DD6-00E7AF08A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3500">
              <a:lnSpc>
                <a:spcPts val="146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reactions,</a:t>
            </a:r>
            <a:r>
              <a:rPr lang="en-US" sz="1800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judgments,</a:t>
            </a:r>
            <a:r>
              <a:rPr lang="en-US" sz="1800" spc="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 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interpretations.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0">
              <a:spcBef>
                <a:spcPts val="1030"/>
              </a:spcBef>
            </a:pPr>
            <a:r>
              <a:rPr lang="en-US" sz="1800" b="1" u="sng" kern="0" spc="-10" dirty="0"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</a:rPr>
              <a:t>Artifacts:</a:t>
            </a:r>
            <a:endParaRPr lang="en-PK" sz="1800" b="1" u="sng" kern="0" dirty="0">
              <a:effectLst/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Objects and images are also tools that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 be used to communicate nonverbally. On an online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forum,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for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example,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might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select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avatar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represent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your</a:t>
            </a:r>
            <a:r>
              <a:rPr lang="en-US" sz="1800" spc="-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identity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and to communicate information about who you are and the things you like. Uniforms, for example,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can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be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used</a:t>
            </a:r>
            <a:r>
              <a:rPr lang="en-US" sz="1800" spc="-15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to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transmit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tremendous</a:t>
            </a:r>
            <a:r>
              <a:rPr lang="en-US" sz="1800" spc="-1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amount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of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information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about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</a:t>
            </a:r>
            <a:r>
              <a:rPr lang="en-US" sz="1800" spc="-2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person. A police officer will wear a specific uniform, and a doctor will wear a white lab coat.</a:t>
            </a:r>
            <a:endParaRPr lang="en-PK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16377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576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Garamond</vt:lpstr>
      <vt:lpstr>Organic</vt:lpstr>
      <vt:lpstr>Non-Verbal Communication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Atif</dc:creator>
  <cp:lastModifiedBy>Atif</cp:lastModifiedBy>
  <cp:revision>2</cp:revision>
  <dcterms:created xsi:type="dcterms:W3CDTF">2026-01-26T06:02:07Z</dcterms:created>
  <dcterms:modified xsi:type="dcterms:W3CDTF">2026-01-26T06:20:13Z</dcterms:modified>
</cp:coreProperties>
</file>