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20" d="100"/>
          <a:sy n="120" d="100"/>
        </p:scale>
        <p:origin x="12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a:xfrm>
            <a:off x="2692397" y="5037663"/>
            <a:ext cx="5214635" cy="279400"/>
          </a:xfrm>
        </p:spPr>
        <p:txBody>
          <a:bodyPr/>
          <a:lstStyle/>
          <a:p>
            <a:endParaRPr lang="en-PK"/>
          </a:p>
        </p:txBody>
      </p:sp>
      <p:sp>
        <p:nvSpPr>
          <p:cNvPr id="6" name="Slide Number Placeholder 5"/>
          <p:cNvSpPr>
            <a:spLocks noGrp="1"/>
          </p:cNvSpPr>
          <p:nvPr>
            <p:ph type="sldNum" sz="quarter" idx="12"/>
          </p:nvPr>
        </p:nvSpPr>
        <p:spPr>
          <a:xfrm>
            <a:off x="8956900" y="5037663"/>
            <a:ext cx="551167" cy="279400"/>
          </a:xfrm>
        </p:spPr>
        <p:txBody>
          <a:bodyPr/>
          <a:lstStyle/>
          <a:p>
            <a:fld id="{A6A7FD1B-E2EA-4935-9F26-AE88B8A3B0E4}" type="slidenum">
              <a:rPr lang="en-PK" smtClean="0"/>
              <a:t>‹#›</a:t>
            </a:fld>
            <a:endParaRPr lang="en-PK"/>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0035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spTree>
    <p:extLst>
      <p:ext uri="{BB962C8B-B14F-4D97-AF65-F5344CB8AC3E}">
        <p14:creationId xmlns:p14="http://schemas.microsoft.com/office/powerpoint/2010/main" val="198322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382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15691B-2D0C-4A89-BEED-A0045FEDDFBE}" type="datetimeFigureOut">
              <a:rPr lang="en-PK" smtClean="0"/>
              <a:t>15-Feb-2026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6A7FD1B-E2EA-4935-9F26-AE88B8A3B0E4}" type="slidenum">
              <a:rPr lang="en-PK" smtClean="0"/>
              <a:t>‹#›</a:t>
            </a:fld>
            <a:endParaRPr lang="en-PK"/>
          </a:p>
        </p:txBody>
      </p:sp>
    </p:spTree>
    <p:extLst>
      <p:ext uri="{BB962C8B-B14F-4D97-AF65-F5344CB8AC3E}">
        <p14:creationId xmlns:p14="http://schemas.microsoft.com/office/powerpoint/2010/main" val="289109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15691B-2D0C-4A89-BEED-A0045FEDDFBE}" type="datetimeFigureOut">
              <a:rPr lang="en-PK" smtClean="0"/>
              <a:t>15-Feb-2026</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A6A7FD1B-E2EA-4935-9F26-AE88B8A3B0E4}" type="slidenum">
              <a:rPr lang="en-PK" smtClean="0"/>
              <a:t>‹#›</a:t>
            </a:fld>
            <a:endParaRPr lang="en-PK"/>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8660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15691B-2D0C-4A89-BEED-A0045FEDDFBE}" type="datetimeFigureOut">
              <a:rPr lang="en-PK" smtClean="0"/>
              <a:t>15-Feb-2026</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A6A7FD1B-E2EA-4935-9F26-AE88B8A3B0E4}" type="slidenum">
              <a:rPr lang="en-PK" smtClean="0"/>
              <a:t>‹#›</a:t>
            </a:fld>
            <a:endParaRPr lang="en-PK"/>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657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15691B-2D0C-4A89-BEED-A0045FEDDFBE}" type="datetimeFigureOut">
              <a:rPr lang="en-PK" smtClean="0"/>
              <a:t>15-Feb-2026</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A6A7FD1B-E2EA-4935-9F26-AE88B8A3B0E4}" type="slidenum">
              <a:rPr lang="en-PK" smtClean="0"/>
              <a:t>‹#›</a:t>
            </a:fld>
            <a:endParaRPr lang="en-PK"/>
          </a:p>
        </p:txBody>
      </p:sp>
    </p:spTree>
    <p:extLst>
      <p:ext uri="{BB962C8B-B14F-4D97-AF65-F5344CB8AC3E}">
        <p14:creationId xmlns:p14="http://schemas.microsoft.com/office/powerpoint/2010/main" val="1560155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15691B-2D0C-4A89-BEED-A0045FEDDFBE}" type="datetimeFigureOut">
              <a:rPr lang="en-PK" smtClean="0"/>
              <a:t>15-Feb-2026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6A7FD1B-E2EA-4935-9F26-AE88B8A3B0E4}" type="slidenum">
              <a:rPr lang="en-PK" smtClean="0"/>
              <a:t>‹#›</a:t>
            </a:fld>
            <a:endParaRPr lang="en-PK"/>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2910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15691B-2D0C-4A89-BEED-A0045FEDDFBE}" type="datetimeFigureOut">
              <a:rPr lang="en-PK" smtClean="0"/>
              <a:t>15-Feb-2026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6A7FD1B-E2EA-4935-9F26-AE88B8A3B0E4}" type="slidenum">
              <a:rPr lang="en-PK" smtClean="0"/>
              <a:t>‹#›</a:t>
            </a:fld>
            <a:endParaRPr lang="en-PK"/>
          </a:p>
        </p:txBody>
      </p:sp>
    </p:spTree>
    <p:extLst>
      <p:ext uri="{BB962C8B-B14F-4D97-AF65-F5344CB8AC3E}">
        <p14:creationId xmlns:p14="http://schemas.microsoft.com/office/powerpoint/2010/main" val="492046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15691B-2D0C-4A89-BEED-A0045FEDDFBE}" type="datetimeFigureOut">
              <a:rPr lang="en-PK" smtClean="0"/>
              <a:t>15-Feb-2026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6A7FD1B-E2EA-4935-9F26-AE88B8A3B0E4}" type="slidenum">
              <a:rPr lang="en-PK" smtClean="0"/>
              <a:t>‹#›</a:t>
            </a:fld>
            <a:endParaRPr lang="en-PK"/>
          </a:p>
        </p:txBody>
      </p:sp>
    </p:spTree>
    <p:extLst>
      <p:ext uri="{BB962C8B-B14F-4D97-AF65-F5344CB8AC3E}">
        <p14:creationId xmlns:p14="http://schemas.microsoft.com/office/powerpoint/2010/main" val="377957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2359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0235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spTree>
    <p:extLst>
      <p:ext uri="{BB962C8B-B14F-4D97-AF65-F5344CB8AC3E}">
        <p14:creationId xmlns:p14="http://schemas.microsoft.com/office/powerpoint/2010/main" val="29314240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376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546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2757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15691B-2D0C-4A89-BEED-A0045FEDDFBE}" type="datetimeFigureOut">
              <a:rPr lang="en-PK" smtClean="0"/>
              <a:t>15-Feb-2026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6A7FD1B-E2EA-4935-9F26-AE88B8A3B0E4}" type="slidenum">
              <a:rPr lang="en-PK" smtClean="0"/>
              <a:t>‹#›</a:t>
            </a:fld>
            <a:endParaRPr lang="en-PK"/>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7626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B15691B-2D0C-4A89-BEED-A0045FEDDFBE}" type="datetimeFigureOut">
              <a:rPr lang="en-PK" smtClean="0"/>
              <a:t>15-Feb-2026</a:t>
            </a:fld>
            <a:endParaRPr lang="en-PK"/>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PK"/>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6A7FD1B-E2EA-4935-9F26-AE88B8A3B0E4}" type="slidenum">
              <a:rPr lang="en-PK" smtClean="0"/>
              <a:t>‹#›</a:t>
            </a:fld>
            <a:endParaRPr lang="en-PK"/>
          </a:p>
        </p:txBody>
      </p:sp>
    </p:spTree>
    <p:extLst>
      <p:ext uri="{BB962C8B-B14F-4D97-AF65-F5344CB8AC3E}">
        <p14:creationId xmlns:p14="http://schemas.microsoft.com/office/powerpoint/2010/main" val="13272226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C31E-3B65-3A73-16DB-82A37BDEBF36}"/>
              </a:ext>
            </a:extLst>
          </p:cNvPr>
          <p:cNvSpPr>
            <a:spLocks noGrp="1"/>
          </p:cNvSpPr>
          <p:nvPr>
            <p:ph type="ctrTitle"/>
          </p:nvPr>
        </p:nvSpPr>
        <p:spPr/>
        <p:txBody>
          <a:bodyPr/>
          <a:lstStyle/>
          <a:p>
            <a:r>
              <a:rPr lang="en-US" dirty="0"/>
              <a:t>Principles of Business Communication</a:t>
            </a:r>
            <a:endParaRPr lang="en-PK" dirty="0"/>
          </a:p>
        </p:txBody>
      </p:sp>
      <p:sp>
        <p:nvSpPr>
          <p:cNvPr id="3" name="Subtitle 2">
            <a:extLst>
              <a:ext uri="{FF2B5EF4-FFF2-40B4-BE49-F238E27FC236}">
                <a16:creationId xmlns:a16="http://schemas.microsoft.com/office/drawing/2014/main" id="{A5A3CB34-0975-7822-B2DC-16F52C947045}"/>
              </a:ext>
            </a:extLst>
          </p:cNvPr>
          <p:cNvSpPr>
            <a:spLocks noGrp="1"/>
          </p:cNvSpPr>
          <p:nvPr>
            <p:ph type="subTitle" idx="1"/>
          </p:nvPr>
        </p:nvSpPr>
        <p:spPr/>
        <p:txBody>
          <a:bodyPr/>
          <a:lstStyle/>
          <a:p>
            <a:r>
              <a:rPr lang="en-US"/>
              <a:t>7’Cs</a:t>
            </a:r>
            <a:endParaRPr lang="en-US" dirty="0"/>
          </a:p>
          <a:p>
            <a:r>
              <a:rPr lang="en-US" dirty="0" err="1"/>
              <a:t>Ms</a:t>
            </a:r>
            <a:r>
              <a:rPr lang="en-US" dirty="0"/>
              <a:t> Malahat </a:t>
            </a:r>
            <a:r>
              <a:rPr lang="en-US" dirty="0" err="1"/>
              <a:t>Erum</a:t>
            </a:r>
            <a:endParaRPr lang="en-PK" dirty="0"/>
          </a:p>
        </p:txBody>
      </p:sp>
    </p:spTree>
    <p:extLst>
      <p:ext uri="{BB962C8B-B14F-4D97-AF65-F5344CB8AC3E}">
        <p14:creationId xmlns:p14="http://schemas.microsoft.com/office/powerpoint/2010/main" val="3103506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9C95-01E9-544B-95A2-9A68B1DA367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57AE9E0-E952-1353-7950-D60E09184165}"/>
              </a:ext>
            </a:extLst>
          </p:cNvPr>
          <p:cNvSpPr>
            <a:spLocks noGrp="1"/>
          </p:cNvSpPr>
          <p:nvPr>
            <p:ph idx="1"/>
          </p:nvPr>
        </p:nvSpPr>
        <p:spPr/>
        <p:txBody>
          <a:bodyPr>
            <a:normAutofit fontScale="92500"/>
          </a:bodyPr>
          <a:lstStyle/>
          <a:p>
            <a:pPr marL="14605">
              <a:lnSpc>
                <a:spcPts val="1390"/>
              </a:lnSpc>
              <a:spcAft>
                <a:spcPts val="1000"/>
              </a:spcAft>
            </a:pPr>
            <a:r>
              <a:rPr lang="en-PK" sz="1800" u="sng" dirty="0">
                <a:effectLst/>
                <a:latin typeface="Trebuchet MS" panose="020B0603020202020204" pitchFamily="34" charset="0"/>
                <a:ea typeface="Trebuchet MS" panose="020B0603020202020204" pitchFamily="34" charset="0"/>
                <a:cs typeface="Trebuchet MS" panose="020B0603020202020204" pitchFamily="34" charset="0"/>
              </a:rPr>
              <a:t>PRINCIPLES OF BUSINESS COMMUNICATION/ 7C’S IN BUSINESS COMMUNICATION</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14605">
              <a:lnSpc>
                <a:spcPts val="1390"/>
              </a:lnSpc>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There are seven basic principles on which business communication stands:</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14605">
              <a:lnSpc>
                <a:spcPts val="1390"/>
              </a:lnSpc>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ts val="1390"/>
              </a:lnSpc>
              <a:buFont typeface="+mj-lt"/>
              <a:buAutoNum type="arabicPeriod"/>
            </a:pPr>
            <a:r>
              <a:rPr lang="en-PK" sz="1800" b="1" dirty="0">
                <a:effectLst/>
                <a:latin typeface="Calibri" panose="020F0502020204030204" pitchFamily="34" charset="0"/>
                <a:ea typeface="Calibri" panose="020F0502020204030204" pitchFamily="34" charset="0"/>
                <a:cs typeface="Arial" panose="020B0604020202020204" pitchFamily="34" charset="0"/>
              </a:rPr>
              <a:t>CLARITY:</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pPr>
            <a:r>
              <a:rPr lang="en-PK" sz="1800" b="1" dirty="0">
                <a:effectLst/>
                <a:latin typeface="Calibri" panose="020F0502020204030204" pitchFamily="34" charset="0"/>
                <a:ea typeface="Calibri" panose="020F0502020204030204" pitchFamily="34" charset="0"/>
                <a:cs typeface="Arial" panose="020B0604020202020204" pitchFamily="34" charset="0"/>
              </a:rPr>
              <a:t>                  </a:t>
            </a:r>
            <a:r>
              <a:rPr lang="en-PK" sz="1800" dirty="0">
                <a:effectLst/>
                <a:latin typeface="Calibri" panose="020F0502020204030204" pitchFamily="34" charset="0"/>
                <a:ea typeface="Calibri" panose="020F0502020204030204" pitchFamily="34" charset="0"/>
                <a:cs typeface="Arial" panose="020B0604020202020204" pitchFamily="34" charset="0"/>
              </a:rPr>
              <a:t>Literary language should be avoided to create a clear and straight forward meaning. A good business letter shows its idea directly and clearly. Each sentence must be simple as possible.</a:t>
            </a:r>
          </a:p>
          <a:p>
            <a:pPr marL="471805">
              <a:lnSpc>
                <a:spcPts val="1390"/>
              </a:lnSpc>
            </a:pPr>
            <a:r>
              <a:rPr lang="en-PK" sz="1800" dirty="0">
                <a:effectLst/>
                <a:latin typeface="Calibri" panose="020F0502020204030204" pitchFamily="34" charset="0"/>
                <a:ea typeface="Calibri" panose="020F0502020204030204" pitchFamily="34" charset="0"/>
                <a:cs typeface="Arial" panose="020B0604020202020204" pitchFamily="34" charset="0"/>
              </a:rPr>
              <a:t> </a:t>
            </a:r>
          </a:p>
          <a:p>
            <a:pPr marL="0" lvl="0" indent="0">
              <a:lnSpc>
                <a:spcPts val="1390"/>
              </a:lnSpc>
              <a:buNone/>
            </a:pPr>
            <a:r>
              <a:rPr lang="en-US" sz="1800" b="1" u="sng" dirty="0">
                <a:effectLst/>
                <a:latin typeface="Calibri" panose="020F0502020204030204" pitchFamily="34" charset="0"/>
                <a:ea typeface="Calibri" panose="020F0502020204030204" pitchFamily="34" charset="0"/>
                <a:cs typeface="Arial" panose="020B0604020202020204" pitchFamily="34" charset="0"/>
              </a:rPr>
              <a:t>2   </a:t>
            </a:r>
            <a:r>
              <a:rPr lang="en-PK" sz="1800" b="1" u="sng" dirty="0">
                <a:effectLst/>
                <a:latin typeface="Calibri" panose="020F0502020204030204" pitchFamily="34" charset="0"/>
                <a:ea typeface="Calibri" panose="020F0502020204030204" pitchFamily="34" charset="0"/>
                <a:cs typeface="Arial" panose="020B0604020202020204" pitchFamily="34" charset="0"/>
              </a:rPr>
              <a:t>CONNECTION:</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spcAft>
                <a:spcPts val="800"/>
              </a:spcAft>
            </a:pPr>
            <a:r>
              <a:rPr lang="en-PK" sz="1800" b="1" dirty="0">
                <a:effectLst/>
                <a:latin typeface="Calibri" panose="020F0502020204030204" pitchFamily="34" charset="0"/>
                <a:ea typeface="Calibri" panose="020F0502020204030204" pitchFamily="34" charset="0"/>
                <a:cs typeface="Arial" panose="020B0604020202020204" pitchFamily="34" charset="0"/>
              </a:rPr>
              <a:t>                          </a:t>
            </a:r>
            <a:r>
              <a:rPr lang="en-PK" sz="1800" dirty="0">
                <a:effectLst/>
                <a:latin typeface="Calibri" panose="020F0502020204030204" pitchFamily="34" charset="0"/>
                <a:ea typeface="Calibri" panose="020F0502020204030204" pitchFamily="34" charset="0"/>
                <a:cs typeface="Arial" panose="020B0604020202020204" pitchFamily="34" charset="0"/>
              </a:rPr>
              <a:t>Commercial letter must be simple, so the reader understands it easily. If the letter consists on many paragraphs so there is a chance that the reader loses his concentration and cannot understand the purpose of writing the letter.</a:t>
            </a:r>
          </a:p>
          <a:p>
            <a:endParaRPr lang="en-PK" dirty="0"/>
          </a:p>
        </p:txBody>
      </p:sp>
    </p:spTree>
    <p:extLst>
      <p:ext uri="{BB962C8B-B14F-4D97-AF65-F5344CB8AC3E}">
        <p14:creationId xmlns:p14="http://schemas.microsoft.com/office/powerpoint/2010/main" val="3808353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D97BC-3A1B-E43C-0B60-445F4745EEC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8A3E7C7-6941-8097-139E-DEA35686B633}"/>
              </a:ext>
            </a:extLst>
          </p:cNvPr>
          <p:cNvSpPr>
            <a:spLocks noGrp="1"/>
          </p:cNvSpPr>
          <p:nvPr>
            <p:ph idx="1"/>
          </p:nvPr>
        </p:nvSpPr>
        <p:spPr/>
        <p:txBody>
          <a:bodyPr>
            <a:normAutofit/>
          </a:bodyPr>
          <a:lstStyle/>
          <a:p>
            <a:pPr marL="0" lvl="0" indent="0">
              <a:lnSpc>
                <a:spcPts val="1390"/>
              </a:lnSpc>
              <a:buNone/>
            </a:pPr>
            <a:r>
              <a:rPr lang="en-US" sz="1800" b="1" u="sng" dirty="0">
                <a:effectLst/>
                <a:latin typeface="Calibri" panose="020F0502020204030204" pitchFamily="34" charset="0"/>
                <a:ea typeface="Calibri" panose="020F0502020204030204" pitchFamily="34" charset="0"/>
                <a:cs typeface="Arial" panose="020B0604020202020204" pitchFamily="34" charset="0"/>
              </a:rPr>
              <a:t>3  </a:t>
            </a:r>
            <a:r>
              <a:rPr lang="en-PK" sz="1800" b="1" u="sng" dirty="0">
                <a:effectLst/>
                <a:latin typeface="Calibri" panose="020F0502020204030204" pitchFamily="34" charset="0"/>
                <a:ea typeface="Calibri" panose="020F0502020204030204" pitchFamily="34" charset="0"/>
                <a:cs typeface="Arial" panose="020B0604020202020204" pitchFamily="34" charset="0"/>
              </a:rPr>
              <a:t>COMPLETENESS:</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pPr>
            <a:r>
              <a:rPr lang="en-PK" sz="1800" dirty="0">
                <a:effectLst/>
                <a:latin typeface="Calibri" panose="020F0502020204030204" pitchFamily="34" charset="0"/>
                <a:ea typeface="Calibri" panose="020F0502020204030204" pitchFamily="34" charset="0"/>
                <a:cs typeface="Arial" panose="020B0604020202020204" pitchFamily="34" charset="0"/>
              </a:rPr>
              <a:t>                              The form of business letter consists on the name of company, address, reference number, salutations and signature. The body of the letter gives complete details to the reader.</a:t>
            </a:r>
          </a:p>
          <a:p>
            <a:pPr marL="471805">
              <a:lnSpc>
                <a:spcPts val="1390"/>
              </a:lnSpc>
            </a:pPr>
            <a:r>
              <a:rPr lang="en-PK" sz="1800" dirty="0">
                <a:effectLst/>
                <a:latin typeface="Calibri" panose="020F0502020204030204" pitchFamily="34" charset="0"/>
                <a:ea typeface="Calibri" panose="020F0502020204030204" pitchFamily="34" charset="0"/>
                <a:cs typeface="Arial" panose="020B0604020202020204" pitchFamily="34" charset="0"/>
              </a:rPr>
              <a:t> </a:t>
            </a:r>
          </a:p>
          <a:p>
            <a:pPr marL="0" lvl="0" indent="0">
              <a:lnSpc>
                <a:spcPts val="1390"/>
              </a:lnSpc>
              <a:buNone/>
            </a:pPr>
            <a:r>
              <a:rPr lang="en-US" sz="1800" b="1" u="sng" dirty="0">
                <a:effectLst/>
                <a:latin typeface="Calibri" panose="020F0502020204030204" pitchFamily="34" charset="0"/>
                <a:ea typeface="Calibri" panose="020F0502020204030204" pitchFamily="34" charset="0"/>
                <a:cs typeface="Arial" panose="020B0604020202020204" pitchFamily="34" charset="0"/>
              </a:rPr>
              <a:t>4   </a:t>
            </a:r>
            <a:r>
              <a:rPr lang="en-PK" sz="1800" b="1" u="sng" dirty="0">
                <a:effectLst/>
                <a:latin typeface="Calibri" panose="020F0502020204030204" pitchFamily="34" charset="0"/>
                <a:ea typeface="Calibri" panose="020F0502020204030204" pitchFamily="34" charset="0"/>
                <a:cs typeface="Arial" panose="020B0604020202020204" pitchFamily="34" charset="0"/>
              </a:rPr>
              <a:t>CONCISE</a:t>
            </a:r>
            <a:r>
              <a:rPr lang="en-PK" sz="1800" u="sng" dirty="0">
                <a:effectLst/>
                <a:latin typeface="Calibri" panose="020F0502020204030204" pitchFamily="34" charset="0"/>
                <a:ea typeface="Calibri" panose="020F0502020204030204" pitchFamily="34" charset="0"/>
                <a:cs typeface="Arial" panose="020B0604020202020204" pitchFamily="34" charset="0"/>
              </a:rPr>
              <a:t>:  </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pPr>
            <a:r>
              <a:rPr lang="en-PK" sz="1800" dirty="0">
                <a:effectLst/>
                <a:latin typeface="Calibri" panose="020F0502020204030204" pitchFamily="34" charset="0"/>
                <a:ea typeface="Calibri" panose="020F0502020204030204" pitchFamily="34" charset="0"/>
                <a:cs typeface="Arial" panose="020B0604020202020204" pitchFamily="34" charset="0"/>
              </a:rPr>
              <a:t>                  A business letter must be simple, short and brief as much as possible. Time is precious for both the reader and writer. Vague words and round about ways of expressions should be avoided to create a difficult and straight forward meanings.</a:t>
            </a:r>
          </a:p>
          <a:p>
            <a:pPr marL="0" lvl="0" indent="0">
              <a:lnSpc>
                <a:spcPts val="1390"/>
              </a:lnSpc>
              <a:buNone/>
            </a:pPr>
            <a:r>
              <a:rPr lang="en-US" sz="1800" dirty="0">
                <a:effectLst/>
                <a:latin typeface="Calibri" panose="020F0502020204030204" pitchFamily="34" charset="0"/>
                <a:ea typeface="Calibri" panose="020F0502020204030204" pitchFamily="34" charset="0"/>
                <a:cs typeface="Arial" panose="020B0604020202020204" pitchFamily="34" charset="0"/>
              </a:rPr>
              <a:t>5 </a:t>
            </a:r>
            <a:r>
              <a:rPr lang="en-PK" sz="1800" dirty="0">
                <a:effectLst/>
                <a:latin typeface="Calibri" panose="020F0502020204030204" pitchFamily="34" charset="0"/>
                <a:ea typeface="Calibri" panose="020F0502020204030204" pitchFamily="34" charset="0"/>
                <a:cs typeface="Arial" panose="020B0604020202020204" pitchFamily="34" charset="0"/>
              </a:rPr>
              <a:t> </a:t>
            </a:r>
            <a:r>
              <a:rPr lang="en-PK" sz="1800" b="1" dirty="0">
                <a:effectLst/>
                <a:latin typeface="Calibri" panose="020F0502020204030204" pitchFamily="34" charset="0"/>
                <a:ea typeface="Calibri" panose="020F0502020204030204" pitchFamily="34" charset="0"/>
                <a:cs typeface="Arial" panose="020B0604020202020204" pitchFamily="34" charset="0"/>
              </a:rPr>
              <a:t>COURTESY:</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spcAft>
                <a:spcPts val="800"/>
              </a:spcAft>
            </a:pPr>
            <a:r>
              <a:rPr lang="en-PK" sz="1800" u="sng" dirty="0">
                <a:effectLst/>
                <a:latin typeface="Calibri" panose="020F0502020204030204" pitchFamily="34" charset="0"/>
                <a:ea typeface="Calibri" panose="020F0502020204030204" pitchFamily="34" charset="0"/>
                <a:cs typeface="Arial" panose="020B0604020202020204" pitchFamily="34" charset="0"/>
              </a:rPr>
              <a:t>  </a:t>
            </a:r>
            <a:r>
              <a:rPr lang="en-PK" sz="1800" dirty="0">
                <a:effectLst/>
                <a:latin typeface="Calibri" panose="020F0502020204030204" pitchFamily="34" charset="0"/>
                <a:ea typeface="Calibri" panose="020F0502020204030204" pitchFamily="34" charset="0"/>
                <a:cs typeface="Arial" panose="020B0604020202020204" pitchFamily="34" charset="0"/>
              </a:rPr>
              <a:t>                     Commercial correspondence must be in request form. Courtesy costs nothing. In business, courtesy is must. Courteous letters enrolled new customers and retained old ones.</a:t>
            </a:r>
          </a:p>
          <a:p>
            <a:pPr marL="471805">
              <a:lnSpc>
                <a:spcPts val="1390"/>
              </a:lnSpc>
              <a:spcAft>
                <a:spcPts val="800"/>
              </a:spcAft>
            </a:pPr>
            <a:endParaRPr lang="en-PK" sz="1800" dirty="0">
              <a:effectLst/>
              <a:latin typeface="Calibri" panose="020F0502020204030204" pitchFamily="34" charset="0"/>
              <a:ea typeface="Calibri" panose="020F0502020204030204" pitchFamily="34" charset="0"/>
              <a:cs typeface="Arial" panose="020B0604020202020204" pitchFamily="34" charset="0"/>
            </a:endParaRPr>
          </a:p>
          <a:p>
            <a:endParaRPr lang="en-PK" dirty="0"/>
          </a:p>
        </p:txBody>
      </p:sp>
    </p:spTree>
    <p:extLst>
      <p:ext uri="{BB962C8B-B14F-4D97-AF65-F5344CB8AC3E}">
        <p14:creationId xmlns:p14="http://schemas.microsoft.com/office/powerpoint/2010/main" val="973832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C5B9-928D-4EB2-A590-9ABBC556AD9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DAA6CD6-DB4E-ED9C-5FE5-7B87BC53CDAA}"/>
              </a:ext>
            </a:extLst>
          </p:cNvPr>
          <p:cNvSpPr>
            <a:spLocks noGrp="1"/>
          </p:cNvSpPr>
          <p:nvPr>
            <p:ph idx="1"/>
          </p:nvPr>
        </p:nvSpPr>
        <p:spPr/>
        <p:txBody>
          <a:bodyPr/>
          <a:lstStyle/>
          <a:p>
            <a:pPr marL="0" lvl="0" indent="0">
              <a:lnSpc>
                <a:spcPts val="1390"/>
              </a:lnSpc>
              <a:buNone/>
            </a:pPr>
            <a:r>
              <a:rPr lang="en-US" sz="1800" b="1" u="sng" dirty="0">
                <a:effectLst/>
                <a:latin typeface="Calibri" panose="020F0502020204030204" pitchFamily="34" charset="0"/>
                <a:ea typeface="Calibri" panose="020F0502020204030204" pitchFamily="34" charset="0"/>
                <a:cs typeface="Arial" panose="020B0604020202020204" pitchFamily="34" charset="0"/>
              </a:rPr>
              <a:t>6  </a:t>
            </a:r>
            <a:r>
              <a:rPr lang="en-PK" sz="1800" b="1" u="sng" dirty="0">
                <a:effectLst/>
                <a:latin typeface="Calibri" panose="020F0502020204030204" pitchFamily="34" charset="0"/>
                <a:ea typeface="Calibri" panose="020F0502020204030204" pitchFamily="34" charset="0"/>
                <a:cs typeface="Arial" panose="020B0604020202020204" pitchFamily="34" charset="0"/>
              </a:rPr>
              <a:t>CORRECTNESS:</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spcAft>
                <a:spcPts val="800"/>
              </a:spcAft>
            </a:pPr>
            <a:r>
              <a:rPr lang="en-PK" sz="1800" dirty="0">
                <a:effectLst/>
                <a:latin typeface="Calibri" panose="020F0502020204030204" pitchFamily="34" charset="0"/>
                <a:ea typeface="Calibri" panose="020F0502020204030204" pitchFamily="34" charset="0"/>
                <a:cs typeface="Arial" panose="020B0604020202020204" pitchFamily="34" charset="0"/>
              </a:rPr>
              <a:t>                            It is the quality of a good business letter that it must be free from all the mistakes especially errors of punctuation and misspellings. The information, you write must be corrected and relevant.</a:t>
            </a:r>
          </a:p>
          <a:p>
            <a:pPr marL="0" lvl="0" indent="0">
              <a:lnSpc>
                <a:spcPts val="1390"/>
              </a:lnSpc>
              <a:buNone/>
            </a:pPr>
            <a:r>
              <a:rPr lang="en-US" sz="1800" b="1" u="sng" dirty="0">
                <a:effectLst/>
                <a:latin typeface="Calibri" panose="020F0502020204030204" pitchFamily="34" charset="0"/>
                <a:ea typeface="Calibri" panose="020F0502020204030204" pitchFamily="34" charset="0"/>
                <a:cs typeface="Arial" panose="020B0604020202020204" pitchFamily="34" charset="0"/>
              </a:rPr>
              <a:t>7   </a:t>
            </a:r>
            <a:r>
              <a:rPr lang="en-PK" sz="1800" b="1" u="sng" dirty="0">
                <a:effectLst/>
                <a:latin typeface="Calibri" panose="020F0502020204030204" pitchFamily="34" charset="0"/>
                <a:ea typeface="Calibri" panose="020F0502020204030204" pitchFamily="34" charset="0"/>
                <a:cs typeface="Arial" panose="020B0604020202020204" pitchFamily="34" charset="0"/>
              </a:rPr>
              <a:t>CONSIDERATION:</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471805">
              <a:lnSpc>
                <a:spcPts val="1390"/>
              </a:lnSpc>
              <a:spcAft>
                <a:spcPts val="800"/>
              </a:spcAft>
            </a:pPr>
            <a:r>
              <a:rPr lang="en-PK" sz="1800" b="1" dirty="0">
                <a:effectLst/>
                <a:latin typeface="Calibri" panose="020F0502020204030204" pitchFamily="34" charset="0"/>
                <a:ea typeface="Calibri" panose="020F0502020204030204" pitchFamily="34" charset="0"/>
                <a:cs typeface="Arial" panose="020B0604020202020204" pitchFamily="34" charset="0"/>
              </a:rPr>
              <a:t>                                </a:t>
            </a:r>
            <a:r>
              <a:rPr lang="en-US" sz="1800" b="1" dirty="0">
                <a:solidFill>
                  <a:srgbClr val="3C4852"/>
                </a:solidFill>
                <a:effectLst/>
                <a:latin typeface="Arial" panose="020B0604020202020204" pitchFamily="34" charset="0"/>
                <a:ea typeface="Calibri" panose="020F0502020204030204" pitchFamily="34" charset="0"/>
                <a:cs typeface="Arial" panose="020B0604020202020204" pitchFamily="34" charset="0"/>
              </a:rPr>
              <a:t>When writing a business letter or email, it’s important to consider your audience and what you want them to do as a result of reading your message. The tone, content and format of your communication are all things that need to be determined based on who is receiving it.</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endParaRPr lang="en-PK" dirty="0"/>
          </a:p>
        </p:txBody>
      </p:sp>
    </p:spTree>
    <p:extLst>
      <p:ext uri="{BB962C8B-B14F-4D97-AF65-F5344CB8AC3E}">
        <p14:creationId xmlns:p14="http://schemas.microsoft.com/office/powerpoint/2010/main" val="29579330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TotalTime>
  <Words>328</Words>
  <Application>Microsoft Office PowerPoint</Application>
  <PresentationFormat>Widescreen</PresentationFormat>
  <Paragraphs>22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Garamond</vt:lpstr>
      <vt:lpstr>Trebuchet MS</vt:lpstr>
      <vt:lpstr>Organic</vt:lpstr>
      <vt:lpstr>Principles of Business Communication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Atif</dc:creator>
  <cp:lastModifiedBy>Atif</cp:lastModifiedBy>
  <cp:revision>3</cp:revision>
  <dcterms:created xsi:type="dcterms:W3CDTF">2026-01-22T02:23:22Z</dcterms:created>
  <dcterms:modified xsi:type="dcterms:W3CDTF">2026-02-15T15:52:43Z</dcterms:modified>
</cp:coreProperties>
</file>