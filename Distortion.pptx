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23" d="100"/>
          <a:sy n="123" d="100"/>
        </p:scale>
        <p:origin x="11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336E78-EE9F-4EAC-AEA2-801D1E05AA2B}"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17595-09E9-4D23-B191-37D9094B630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9975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336E78-EE9F-4EAC-AEA2-801D1E05AA2B}"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17595-09E9-4D23-B191-37D9094B6306}" type="slidenum">
              <a:rPr lang="en-US" smtClean="0"/>
              <a:t>‹#›</a:t>
            </a:fld>
            <a:endParaRPr lang="en-US"/>
          </a:p>
        </p:txBody>
      </p:sp>
    </p:spTree>
    <p:extLst>
      <p:ext uri="{BB962C8B-B14F-4D97-AF65-F5344CB8AC3E}">
        <p14:creationId xmlns:p14="http://schemas.microsoft.com/office/powerpoint/2010/main" val="2844088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336E78-EE9F-4EAC-AEA2-801D1E05AA2B}"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17595-09E9-4D23-B191-37D9094B6306}"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3659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336E78-EE9F-4EAC-AEA2-801D1E05AA2B}"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17595-09E9-4D23-B191-37D9094B6306}" type="slidenum">
              <a:rPr lang="en-US" smtClean="0"/>
              <a:t>‹#›</a:t>
            </a:fld>
            <a:endParaRPr lang="en-US"/>
          </a:p>
        </p:txBody>
      </p:sp>
    </p:spTree>
    <p:extLst>
      <p:ext uri="{BB962C8B-B14F-4D97-AF65-F5344CB8AC3E}">
        <p14:creationId xmlns:p14="http://schemas.microsoft.com/office/powerpoint/2010/main" val="663743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336E78-EE9F-4EAC-AEA2-801D1E05AA2B}"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617595-09E9-4D23-B191-37D9094B6306}" type="slidenum">
              <a:rPr lang="en-US" smtClean="0"/>
              <a:t>‹#›</a:t>
            </a:fld>
            <a:endParaRPr lang="en-US"/>
          </a:p>
        </p:txBody>
      </p:sp>
    </p:spTree>
    <p:extLst>
      <p:ext uri="{BB962C8B-B14F-4D97-AF65-F5344CB8AC3E}">
        <p14:creationId xmlns:p14="http://schemas.microsoft.com/office/powerpoint/2010/main" val="3615283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336E78-EE9F-4EAC-AEA2-801D1E05AA2B}"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617595-09E9-4D23-B191-37D9094B6306}" type="slidenum">
              <a:rPr lang="en-US" smtClean="0"/>
              <a:t>‹#›</a:t>
            </a:fld>
            <a:endParaRPr lang="en-US"/>
          </a:p>
        </p:txBody>
      </p:sp>
    </p:spTree>
    <p:extLst>
      <p:ext uri="{BB962C8B-B14F-4D97-AF65-F5344CB8AC3E}">
        <p14:creationId xmlns:p14="http://schemas.microsoft.com/office/powerpoint/2010/main" val="2796312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0336E78-EE9F-4EAC-AEA2-801D1E05AA2B}" type="datetimeFigureOut">
              <a:rPr lang="en-US" smtClean="0"/>
              <a:t>2/22/2026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E8617595-09E9-4D23-B191-37D9094B6306}" type="slidenum">
              <a:rPr lang="en-US" smtClean="0"/>
              <a:t>‹#›</a:t>
            </a:fld>
            <a:endParaRPr lang="en-US"/>
          </a:p>
        </p:txBody>
      </p:sp>
    </p:spTree>
    <p:extLst>
      <p:ext uri="{BB962C8B-B14F-4D97-AF65-F5344CB8AC3E}">
        <p14:creationId xmlns:p14="http://schemas.microsoft.com/office/powerpoint/2010/main" val="8261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0336E78-EE9F-4EAC-AEA2-801D1E05AA2B}" type="datetimeFigureOut">
              <a:rPr lang="en-US" smtClean="0"/>
              <a:t>2/22/2026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8617595-09E9-4D23-B191-37D9094B6306}" type="slidenum">
              <a:rPr lang="en-US" smtClean="0"/>
              <a:t>‹#›</a:t>
            </a:fld>
            <a:endParaRPr lang="en-US"/>
          </a:p>
        </p:txBody>
      </p:sp>
    </p:spTree>
    <p:extLst>
      <p:ext uri="{BB962C8B-B14F-4D97-AF65-F5344CB8AC3E}">
        <p14:creationId xmlns:p14="http://schemas.microsoft.com/office/powerpoint/2010/main" val="4092625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336E78-EE9F-4EAC-AEA2-801D1E05AA2B}"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617595-09E9-4D23-B191-37D9094B6306}" type="slidenum">
              <a:rPr lang="en-US" smtClean="0"/>
              <a:t>‹#›</a:t>
            </a:fld>
            <a:endParaRPr lang="en-US"/>
          </a:p>
        </p:txBody>
      </p:sp>
    </p:spTree>
    <p:extLst>
      <p:ext uri="{BB962C8B-B14F-4D97-AF65-F5344CB8AC3E}">
        <p14:creationId xmlns:p14="http://schemas.microsoft.com/office/powerpoint/2010/main" val="1779802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336E78-EE9F-4EAC-AEA2-801D1E05AA2B}"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17595-09E9-4D23-B191-37D9094B6306}" type="slidenum">
              <a:rPr lang="en-US" smtClean="0"/>
              <a:t>‹#›</a:t>
            </a:fld>
            <a:endParaRPr lang="en-US"/>
          </a:p>
        </p:txBody>
      </p:sp>
    </p:spTree>
    <p:extLst>
      <p:ext uri="{BB962C8B-B14F-4D97-AF65-F5344CB8AC3E}">
        <p14:creationId xmlns:p14="http://schemas.microsoft.com/office/powerpoint/2010/main" val="2928786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336E78-EE9F-4EAC-AEA2-801D1E05AA2B}"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617595-09E9-4D23-B191-37D9094B6306}" type="slidenum">
              <a:rPr lang="en-US" smtClean="0"/>
              <a:t>‹#›</a:t>
            </a:fld>
            <a:endParaRPr lang="en-US"/>
          </a:p>
        </p:txBody>
      </p:sp>
    </p:spTree>
    <p:extLst>
      <p:ext uri="{BB962C8B-B14F-4D97-AF65-F5344CB8AC3E}">
        <p14:creationId xmlns:p14="http://schemas.microsoft.com/office/powerpoint/2010/main" val="295761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0336E78-EE9F-4EAC-AEA2-801D1E05AA2B}" type="datetimeFigureOut">
              <a:rPr lang="en-US" smtClean="0"/>
              <a:t>2/22/2026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8617595-09E9-4D23-B191-37D9094B6306}"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124292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ssets.publishing.service.gov.uk/media/5422fc6940f0b61346000943/8-1981_G-BDAN.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u="sng" dirty="0"/>
              <a:t>Distortion </a:t>
            </a:r>
          </a:p>
        </p:txBody>
      </p:sp>
      <p:sp>
        <p:nvSpPr>
          <p:cNvPr id="3" name="Subtitle 2"/>
          <p:cNvSpPr>
            <a:spLocks noGrp="1"/>
          </p:cNvSpPr>
          <p:nvPr>
            <p:ph type="subTitle" idx="1"/>
          </p:nvPr>
        </p:nvSpPr>
        <p:spPr/>
        <p:txBody>
          <a:bodyPr/>
          <a:lstStyle/>
          <a:p>
            <a:r>
              <a:rPr lang="en-US" dirty="0"/>
              <a:t>Ms. Malahat </a:t>
            </a:r>
            <a:r>
              <a:rPr lang="en-US" dirty="0" err="1"/>
              <a:t>Erum</a:t>
            </a:r>
            <a:r>
              <a:rPr lang="en-US" dirty="0"/>
              <a:t> </a:t>
            </a:r>
          </a:p>
        </p:txBody>
      </p:sp>
    </p:spTree>
    <p:extLst>
      <p:ext uri="{BB962C8B-B14F-4D97-AF65-F5344CB8AC3E}">
        <p14:creationId xmlns:p14="http://schemas.microsoft.com/office/powerpoint/2010/main" val="2143851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distortion?</a:t>
            </a:r>
          </a:p>
        </p:txBody>
      </p:sp>
      <p:sp>
        <p:nvSpPr>
          <p:cNvPr id="3" name="Content Placeholder 2"/>
          <p:cNvSpPr>
            <a:spLocks noGrp="1"/>
          </p:cNvSpPr>
          <p:nvPr>
            <p:ph idx="1"/>
          </p:nvPr>
        </p:nvSpPr>
        <p:spPr/>
        <p:txBody>
          <a:bodyPr/>
          <a:lstStyle/>
          <a:p>
            <a:endParaRPr lang="en-US" b="1" u="sng" dirty="0"/>
          </a:p>
          <a:p>
            <a:pPr marL="0" indent="0">
              <a:buNone/>
            </a:pPr>
            <a:r>
              <a:rPr lang="en-US" dirty="0"/>
              <a:t>Effective teamwork is relative to effective communication between team members. How we message one another can be interpreted in many ways depending on the circumstance, level of stress, urgency, and even the temperament of the team member at the time. </a:t>
            </a:r>
          </a:p>
          <a:p>
            <a:pPr marL="0" indent="0">
              <a:buNone/>
            </a:pPr>
            <a:r>
              <a:rPr lang="en-US" b="1" u="sng" dirty="0"/>
              <a:t>Clear Communication</a:t>
            </a:r>
            <a:endParaRPr lang="en-US" u="sng" dirty="0"/>
          </a:p>
          <a:p>
            <a:pPr marL="0" indent="0">
              <a:buNone/>
            </a:pPr>
            <a:r>
              <a:rPr lang="en-US" b="1" dirty="0"/>
              <a:t>Communication is the lifeblood of human relations, allowing us to convey thoughts, emotions, and ideas.</a:t>
            </a:r>
            <a:endParaRPr lang="en-US" dirty="0"/>
          </a:p>
          <a:p>
            <a:endParaRPr lang="en-US" dirty="0"/>
          </a:p>
          <a:p>
            <a:endParaRPr lang="en-US" dirty="0"/>
          </a:p>
        </p:txBody>
      </p:sp>
    </p:spTree>
    <p:extLst>
      <p:ext uri="{BB962C8B-B14F-4D97-AF65-F5344CB8AC3E}">
        <p14:creationId xmlns:p14="http://schemas.microsoft.com/office/powerpoint/2010/main" val="843623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However, as information travels from sender to receiver, it encounters various hurdles that can lead to message distortion.</a:t>
            </a:r>
          </a:p>
          <a:p>
            <a:pPr marL="0" indent="0">
              <a:buNone/>
            </a:pPr>
            <a:r>
              <a:rPr lang="en-US" dirty="0"/>
              <a:t>Much like a game of telephone, where a whispered message mutates as it passes from person to person, messages can become muddled and lose their original intent.</a:t>
            </a:r>
          </a:p>
          <a:p>
            <a:pPr marL="0" indent="0">
              <a:buNone/>
            </a:pPr>
            <a:r>
              <a:rPr lang="en-US" dirty="0"/>
              <a:t>In fact, research points us to examples that when a message is transmitted from one human to another, with each human susceptible to adding or forgetting information, by the time it reaches the sixth (and certainly the seventh) human, it has mutated almost 80% from its original form.</a:t>
            </a:r>
          </a:p>
          <a:p>
            <a:endParaRPr lang="en-US" dirty="0"/>
          </a:p>
        </p:txBody>
      </p:sp>
    </p:spTree>
    <p:extLst>
      <p:ext uri="{BB962C8B-B14F-4D97-AF65-F5344CB8AC3E}">
        <p14:creationId xmlns:p14="http://schemas.microsoft.com/office/powerpoint/2010/main" val="1478332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u="sng" dirty="0"/>
              <a:t> Message Distortion:</a:t>
            </a:r>
            <a:endParaRPr lang="en-US" u="sng" dirty="0"/>
          </a:p>
          <a:p>
            <a:r>
              <a:rPr lang="en-US" b="1" dirty="0"/>
              <a:t>Message distortion is the alteration or misinterpretation of information during communication.</a:t>
            </a:r>
            <a:endParaRPr lang="en-US" dirty="0"/>
          </a:p>
          <a:p>
            <a:r>
              <a:rPr lang="en-US" b="1" u="sng" dirty="0"/>
              <a:t>Factors: </a:t>
            </a:r>
            <a:r>
              <a:rPr lang="en-US" dirty="0"/>
              <a:t>It occurs due to many factors that can interfere with the accurate transmission of messages.</a:t>
            </a:r>
          </a:p>
          <a:p>
            <a:r>
              <a:rPr lang="en-US" dirty="0"/>
              <a:t>These factors include noise, cultural differences, psychological biases, language barriers, and individual interpretation.</a:t>
            </a:r>
          </a:p>
          <a:p>
            <a:pPr lvl="0"/>
            <a:r>
              <a:rPr lang="en-US" b="1" dirty="0"/>
              <a:t>Physical Noise:</a:t>
            </a:r>
            <a:r>
              <a:rPr lang="en-US" dirty="0"/>
              <a:t> is a common source of message distortion. Physical noise, such as loud background sounds or poor audio quality, can make it difficult for the receiver to hear the message clearly. In first responder organizations, closed-loop and multi-modal communication techniques are routinely used to ensure consistency of sending, receiving, and understanding of messages.</a:t>
            </a:r>
          </a:p>
          <a:p>
            <a:endParaRPr lang="en-US" dirty="0"/>
          </a:p>
        </p:txBody>
      </p:sp>
    </p:spTree>
    <p:extLst>
      <p:ext uri="{BB962C8B-B14F-4D97-AF65-F5344CB8AC3E}">
        <p14:creationId xmlns:p14="http://schemas.microsoft.com/office/powerpoint/2010/main" val="3298923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lvl="0"/>
            <a:r>
              <a:rPr lang="en-US" b="1" u="sng" dirty="0"/>
              <a:t>Similarly, psychological noise,</a:t>
            </a:r>
            <a:r>
              <a:rPr lang="en-US" dirty="0"/>
              <a:t> like distractions or preoccupations, can impede our ability to fully comprehend the message. </a:t>
            </a:r>
            <a:r>
              <a:rPr lang="en-US"/>
              <a:t>Psychological </a:t>
            </a:r>
            <a:r>
              <a:rPr lang="en-US" dirty="0"/>
              <a:t>noises </a:t>
            </a:r>
            <a:r>
              <a:rPr lang="en-PK" sz="1800" dirty="0">
                <a:effectLst/>
                <a:latin typeface="Aptos" panose="020B0004020202020204" pitchFamily="34" charset="0"/>
                <a:ea typeface="Aptos" panose="020B0004020202020204" pitchFamily="34" charset="0"/>
                <a:cs typeface="Times New Roman" panose="02020603050405020304" pitchFamily="18" charset="0"/>
              </a:rPr>
              <a:t> occurs as a result of personal attitudes, assumptions, and biases.  People have particular perspectives and world views; communication noise occurs when content, language, and perceived attitudes of the communicator and the audience do not mesh. </a:t>
            </a:r>
            <a:endParaRPr lang="en-US" dirty="0"/>
          </a:p>
          <a:p>
            <a:pPr lvl="0"/>
            <a:r>
              <a:rPr lang="en-US" b="1" u="sng" dirty="0"/>
              <a:t>Cultural differences</a:t>
            </a:r>
            <a:r>
              <a:rPr lang="en-US" dirty="0"/>
              <a:t> play a significant role in message distortion. Different cultures possess unique values, norms, and communication styles, which can lead to misunderstandings. What may be considered appropriate or polite in one culture might be perceived as offensive or inappropriate in another. These cultural nuances can create barriers and distort the intended meaning of the message.</a:t>
            </a:r>
          </a:p>
          <a:p>
            <a:pPr lvl="0"/>
            <a:r>
              <a:rPr lang="en-US" b="1" u="sng" dirty="0"/>
              <a:t>Language barriers</a:t>
            </a:r>
            <a:r>
              <a:rPr lang="en-US" dirty="0"/>
              <a:t> are another contributor to message distortion. Translating ideas from one language to another is a complex process, often resulting in subtle shifts in meaning. Words and phrases with rich connotations in one language may not be equivalent in another, leading to the loss or alteration of intended messages during translation.</a:t>
            </a:r>
          </a:p>
          <a:p>
            <a:endParaRPr lang="en-US" dirty="0"/>
          </a:p>
        </p:txBody>
      </p:sp>
    </p:spTree>
    <p:extLst>
      <p:ext uri="{BB962C8B-B14F-4D97-AF65-F5344CB8AC3E}">
        <p14:creationId xmlns:p14="http://schemas.microsoft.com/office/powerpoint/2010/main" val="2618787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b="1" u="sng" dirty="0"/>
              <a:t>Interpretation:</a:t>
            </a:r>
          </a:p>
          <a:p>
            <a:pPr marL="0" lvl="0" indent="0">
              <a:buNone/>
            </a:pPr>
            <a:r>
              <a:rPr lang="en-US" dirty="0"/>
              <a:t>Lastly, our unique ability to apply our </a:t>
            </a:r>
            <a:r>
              <a:rPr lang="en-US" b="1" dirty="0"/>
              <a:t>interpretation</a:t>
            </a:r>
            <a:r>
              <a:rPr lang="en-US" dirty="0"/>
              <a:t> to any message is perhaps the most subjective element of message distortion. Each person brings unique experiences, beliefs, and biases to interpret a message. This filters can affect how we perceive and understand information, leading to varying degrees of distortion.</a:t>
            </a:r>
          </a:p>
          <a:p>
            <a:r>
              <a:rPr lang="en-US" b="1" u="sng" dirty="0"/>
              <a:t>Effects of Message Distortion</a:t>
            </a:r>
            <a:endParaRPr lang="en-US" u="sng" dirty="0"/>
          </a:p>
          <a:p>
            <a:pPr marL="0" indent="0">
              <a:buNone/>
            </a:pPr>
            <a:r>
              <a:rPr lang="en-US" dirty="0"/>
              <a:t>The consequences of message distortion can be far-reaching, impacting interactions of all kinds.</a:t>
            </a:r>
          </a:p>
          <a:p>
            <a:pPr marL="0" indent="0">
              <a:buNone/>
            </a:pPr>
            <a:endParaRPr lang="en-US" dirty="0"/>
          </a:p>
        </p:txBody>
      </p:sp>
    </p:spTree>
    <p:extLst>
      <p:ext uri="{BB962C8B-B14F-4D97-AF65-F5344CB8AC3E}">
        <p14:creationId xmlns:p14="http://schemas.microsoft.com/office/powerpoint/2010/main" val="2989279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In the workplace,</a:t>
            </a:r>
            <a:r>
              <a:rPr lang="en-US" dirty="0"/>
              <a:t> the impact is magnified, especially within those teams who do not communicate well with each other, even on their good days. In such environments,  misunderstandings arising from message distortion can breed conflict and erode trust, with misinterpreted words or actions leading to hurt feelings and damaged friendships.</a:t>
            </a:r>
          </a:p>
          <a:p>
            <a:r>
              <a:rPr lang="en-US" b="1" dirty="0"/>
              <a:t>In the business world,</a:t>
            </a:r>
            <a:r>
              <a:rPr lang="en-US" dirty="0"/>
              <a:t> message distortion can hinder productivity and efficiency. Inaccurate or incomplete communication can lead to mistakes, delays, and misaligned objectives.</a:t>
            </a:r>
          </a:p>
          <a:p>
            <a:r>
              <a:rPr lang="en-US" dirty="0"/>
              <a:t>Poorly communicated instructions can result in errors, costly rework, and frustrated employees. Additionally, distorted messages within an organization can impede collaboration and hinder innovation.</a:t>
            </a:r>
          </a:p>
          <a:p>
            <a:endParaRPr lang="en-US" dirty="0"/>
          </a:p>
        </p:txBody>
      </p:sp>
    </p:spTree>
    <p:extLst>
      <p:ext uri="{BB962C8B-B14F-4D97-AF65-F5344CB8AC3E}">
        <p14:creationId xmlns:p14="http://schemas.microsoft.com/office/powerpoint/2010/main" val="310814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Many disasters have been attributed to poor communication. On the morning of April 25, 1980, 146 people died onboard </a:t>
            </a:r>
            <a:r>
              <a:rPr lang="en-US" dirty="0">
                <a:hlinkClick r:id="rId2"/>
              </a:rPr>
              <a:t>Dan-Air Flight 1008</a:t>
            </a:r>
            <a:r>
              <a:rPr lang="en-US" dirty="0"/>
              <a:t> as a result of a single misheard word.</a:t>
            </a:r>
          </a:p>
          <a:p>
            <a:r>
              <a:rPr lang="en-US"/>
              <a:t>Therefore, eliminating message distortion is vital.</a:t>
            </a:r>
          </a:p>
          <a:p>
            <a:endParaRPr lang="en-US"/>
          </a:p>
        </p:txBody>
      </p:sp>
    </p:spTree>
    <p:extLst>
      <p:ext uri="{BB962C8B-B14F-4D97-AF65-F5344CB8AC3E}">
        <p14:creationId xmlns:p14="http://schemas.microsoft.com/office/powerpoint/2010/main" val="13596317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41</TotalTime>
  <Words>713</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Calibri</vt:lpstr>
      <vt:lpstr>Calibri Light</vt:lpstr>
      <vt:lpstr>Retrospect</vt:lpstr>
      <vt:lpstr>Distortion </vt:lpstr>
      <vt:lpstr>What is distortion?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Distortion </dc:title>
  <dc:creator>HP</dc:creator>
  <cp:lastModifiedBy>Atif</cp:lastModifiedBy>
  <cp:revision>15</cp:revision>
  <dcterms:created xsi:type="dcterms:W3CDTF">2024-10-05T08:48:29Z</dcterms:created>
  <dcterms:modified xsi:type="dcterms:W3CDTF">2026-02-22T06:45:21Z</dcterms:modified>
</cp:coreProperties>
</file>